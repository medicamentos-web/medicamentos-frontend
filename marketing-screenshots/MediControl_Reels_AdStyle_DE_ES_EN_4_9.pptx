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6858000" cy="12191695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medicamentos-frontend.vercel.app/landing" TargetMode="Externa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medicamentos-frontend.vercel.app/landing" TargetMode="Externa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medicamentos-frontend.vercel.app/landing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858000" cy="12191695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2743200" y="914400"/>
            <a:ext cx="4389120" cy="4389120"/>
          </a:xfrm>
          <a:prstGeom prst="ellipse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292608"/>
            <a:ext cx="603504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ECF3FF"/>
                </a:solidFill>
              </a:rPr>
              <a:t>Reels  |  DE  |  </a:t>
            </a:r>
            <a:r>
              <a:rPr sz="1400" b="1">
                <a:solidFill>
                  <a:srgbClr val="ECF3FF"/>
                </a:solidFill>
              </a:rPr>
              <a:t>Google </a:t>
            </a:r>
            <a:r>
              <a:rPr sz="1400">
                <a:solidFill>
                  <a:srgbClr val="ECF3FF"/>
                </a:solidFill>
              </a:rPr>
              <a:t>4.9 (Google Reviews)</a:t>
            </a:r>
          </a:p>
        </p:txBody>
      </p:sp>
      <p:sp>
        <p:nvSpPr>
          <p:cNvPr id="5" name="5-Point Star 4"/>
          <p:cNvSpPr/>
          <p:nvPr/>
        </p:nvSpPr>
        <p:spPr>
          <a:xfrm>
            <a:off x="3218688" y="265176"/>
            <a:ext cx="164592" cy="164592"/>
          </a:xfrm>
          <a:prstGeom prst="star5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5-Point Star 5"/>
          <p:cNvSpPr/>
          <p:nvPr/>
        </p:nvSpPr>
        <p:spPr>
          <a:xfrm>
            <a:off x="3429000" y="265176"/>
            <a:ext cx="164592" cy="164592"/>
          </a:xfrm>
          <a:prstGeom prst="star5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5-Point Star 6"/>
          <p:cNvSpPr/>
          <p:nvPr/>
        </p:nvSpPr>
        <p:spPr>
          <a:xfrm>
            <a:off x="3639312" y="265176"/>
            <a:ext cx="164592" cy="164592"/>
          </a:xfrm>
          <a:prstGeom prst="star5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5-Point Star 7"/>
          <p:cNvSpPr/>
          <p:nvPr/>
        </p:nvSpPr>
        <p:spPr>
          <a:xfrm>
            <a:off x="3849624" y="265176"/>
            <a:ext cx="164592" cy="164592"/>
          </a:xfrm>
          <a:prstGeom prst="star5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5-Point Star 8"/>
          <p:cNvSpPr/>
          <p:nvPr/>
        </p:nvSpPr>
        <p:spPr>
          <a:xfrm>
            <a:off x="4059935" y="265176"/>
            <a:ext cx="164592" cy="164592"/>
          </a:xfrm>
          <a:prstGeom prst="star5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11480" y="1005840"/>
            <a:ext cx="6035040" cy="1645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4400">
                <a:solidFill>
                  <a:srgbClr val="FFFFFF"/>
                </a:solidFill>
              </a:rPr>
              <a:t>Optimiere deine</a:t>
            </a:r>
          </a:p>
          <a:p>
            <a:r>
              <a:rPr b="1" i="1" sz="4200">
                <a:solidFill>
                  <a:srgbClr val="34D399"/>
                </a:solidFill>
              </a:rPr>
              <a:t>Medikamente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05840" y="2743200"/>
            <a:ext cx="4846320" cy="7223760"/>
          </a:xfrm>
          <a:prstGeom prst="roundRect">
            <a:avLst/>
          </a:prstGeom>
          <a:solidFill>
            <a:srgbClr val="101828"/>
          </a:solidFill>
          <a:ln w="3175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1234440" y="3017520"/>
            <a:ext cx="4389120" cy="6583680"/>
          </a:xfrm>
          <a:prstGeom prst="round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508760" y="3291840"/>
            <a:ext cx="3840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700">
                <a:solidFill>
                  <a:srgbClr val="10B981"/>
                </a:solidFill>
              </a:rPr>
              <a:t>MediControl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508760" y="3840480"/>
            <a:ext cx="3840480" cy="1325880"/>
          </a:xfrm>
          <a:prstGeom prst="round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>
                <a:solidFill>
                  <a:srgbClr val="1E293B"/>
                </a:solidFill>
              </a:rPr>
              <a:t>Dein Therapie-Potenzial</a:t>
            </a:r>
          </a:p>
          <a:p>
            <a:r>
              <a:rPr b="1" sz="3400">
                <a:solidFill>
                  <a:srgbClr val="0F172A"/>
                </a:solidFill>
              </a:rPr>
              <a:t>100%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508760" y="5486400"/>
            <a:ext cx="3840480" cy="786384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0F172A"/>
                </a:solidFill>
              </a:rPr>
              <a:t>50+ Kunden vertrauen uns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508760" y="6400800"/>
            <a:ext cx="3840480" cy="786384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0F172A"/>
                </a:solidFill>
              </a:rPr>
              <a:t>Prioritaets-Support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508760" y="7315200"/>
            <a:ext cx="3840480" cy="786384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0F172A"/>
                </a:solidFill>
              </a:rPr>
              <a:t>99.9% Verfuegbarkeit · ab CHF 4.99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11480" y="9966960"/>
            <a:ext cx="6035040" cy="50292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E2E8F0"/>
                </a:solidFill>
              </a:rPr>
              <a:t>50+ clientes  |  Soporte prioritario  |  99.9% estabilidad  |  Desde CHF 4.99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28600" y="10561320"/>
            <a:ext cx="6400800" cy="914400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502920" y="10744200"/>
            <a:ext cx="5852160" cy="566928"/>
          </a:xfrm>
          <a:prstGeom prst="roundRect">
            <a:avLst/>
          </a:prstGeom>
          <a:solidFill>
            <a:srgbClr val="007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2200">
                <a:solidFill>
                  <a:srgbClr val="FFFFFF"/>
                </a:solidFill>
                <a:hlinkClick r:id="rId2"/>
              </a:rPr>
              <a:t>Registrieren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858000" cy="12191695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2743200" y="914400"/>
            <a:ext cx="4389120" cy="4389120"/>
          </a:xfrm>
          <a:prstGeom prst="ellipse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292608"/>
            <a:ext cx="603504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ECF3FF"/>
                </a:solidFill>
              </a:rPr>
              <a:t>Reels  |  ES  |  </a:t>
            </a:r>
            <a:r>
              <a:rPr sz="1400" b="1">
                <a:solidFill>
                  <a:srgbClr val="ECF3FF"/>
                </a:solidFill>
              </a:rPr>
              <a:t>Google </a:t>
            </a:r>
            <a:r>
              <a:rPr sz="1400">
                <a:solidFill>
                  <a:srgbClr val="ECF3FF"/>
                </a:solidFill>
              </a:rPr>
              <a:t>4.9 (Google Reviews)</a:t>
            </a:r>
          </a:p>
        </p:txBody>
      </p:sp>
      <p:sp>
        <p:nvSpPr>
          <p:cNvPr id="5" name="5-Point Star 4"/>
          <p:cNvSpPr/>
          <p:nvPr/>
        </p:nvSpPr>
        <p:spPr>
          <a:xfrm>
            <a:off x="3218688" y="265176"/>
            <a:ext cx="164592" cy="164592"/>
          </a:xfrm>
          <a:prstGeom prst="star5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5-Point Star 5"/>
          <p:cNvSpPr/>
          <p:nvPr/>
        </p:nvSpPr>
        <p:spPr>
          <a:xfrm>
            <a:off x="3429000" y="265176"/>
            <a:ext cx="164592" cy="164592"/>
          </a:xfrm>
          <a:prstGeom prst="star5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5-Point Star 6"/>
          <p:cNvSpPr/>
          <p:nvPr/>
        </p:nvSpPr>
        <p:spPr>
          <a:xfrm>
            <a:off x="3639312" y="265176"/>
            <a:ext cx="164592" cy="164592"/>
          </a:xfrm>
          <a:prstGeom prst="star5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5-Point Star 7"/>
          <p:cNvSpPr/>
          <p:nvPr/>
        </p:nvSpPr>
        <p:spPr>
          <a:xfrm>
            <a:off x="3849624" y="265176"/>
            <a:ext cx="164592" cy="164592"/>
          </a:xfrm>
          <a:prstGeom prst="star5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5-Point Star 8"/>
          <p:cNvSpPr/>
          <p:nvPr/>
        </p:nvSpPr>
        <p:spPr>
          <a:xfrm>
            <a:off x="4059935" y="265176"/>
            <a:ext cx="164592" cy="164592"/>
          </a:xfrm>
          <a:prstGeom prst="star5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11480" y="1005840"/>
            <a:ext cx="6035040" cy="1645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4400">
                <a:solidFill>
                  <a:srgbClr val="FFFFFF"/>
                </a:solidFill>
              </a:rPr>
              <a:t>Optimiza tu</a:t>
            </a:r>
          </a:p>
          <a:p>
            <a:r>
              <a:rPr b="1" i="1" sz="4200">
                <a:solidFill>
                  <a:srgbClr val="34D399"/>
                </a:solidFill>
              </a:rPr>
              <a:t>medicación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05840" y="2743200"/>
            <a:ext cx="4846320" cy="7223760"/>
          </a:xfrm>
          <a:prstGeom prst="roundRect">
            <a:avLst/>
          </a:prstGeom>
          <a:solidFill>
            <a:srgbClr val="101828"/>
          </a:solidFill>
          <a:ln w="3175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1234440" y="3017520"/>
            <a:ext cx="4389120" cy="6583680"/>
          </a:xfrm>
          <a:prstGeom prst="round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508760" y="3291840"/>
            <a:ext cx="3840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700">
                <a:solidFill>
                  <a:srgbClr val="10B981"/>
                </a:solidFill>
              </a:rPr>
              <a:t>MediControl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508760" y="3840480"/>
            <a:ext cx="3840480" cy="1325880"/>
          </a:xfrm>
          <a:prstGeom prst="round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>
                <a:solidFill>
                  <a:srgbClr val="1E293B"/>
                </a:solidFill>
              </a:rPr>
              <a:t>Tu potencial de adherencia</a:t>
            </a:r>
          </a:p>
          <a:p>
            <a:r>
              <a:rPr b="1" sz="3400">
                <a:solidFill>
                  <a:srgbClr val="0F172A"/>
                </a:solidFill>
              </a:rPr>
              <a:t>100%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508760" y="5486400"/>
            <a:ext cx="3840480" cy="786384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0F172A"/>
                </a:solidFill>
              </a:rPr>
              <a:t>50+ clientes confian en MediControl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508760" y="6400800"/>
            <a:ext cx="3840480" cy="786384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0F172A"/>
                </a:solidFill>
              </a:rPr>
              <a:t>Soporte prioritario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508760" y="7315200"/>
            <a:ext cx="3840480" cy="786384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0F172A"/>
                </a:solidFill>
              </a:rPr>
              <a:t>99.9% estabilidad · desde CHF 4.99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11480" y="9966960"/>
            <a:ext cx="6035040" cy="50292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E2E8F0"/>
                </a:solidFill>
              </a:rPr>
              <a:t>50+ clientes  |  Soporte prioritario  |  99.9% estabilidad  |  Desde CHF 4.99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28600" y="10561320"/>
            <a:ext cx="6400800" cy="914400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502920" y="10744200"/>
            <a:ext cx="5852160" cy="566928"/>
          </a:xfrm>
          <a:prstGeom prst="roundRect">
            <a:avLst/>
          </a:prstGeom>
          <a:solidFill>
            <a:srgbClr val="007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2200">
                <a:solidFill>
                  <a:srgbClr val="FFFFFF"/>
                </a:solidFill>
                <a:hlinkClick r:id="rId2"/>
              </a:rPr>
              <a:t>Registrarse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858000" cy="12191695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2743200" y="914400"/>
            <a:ext cx="4389120" cy="4389120"/>
          </a:xfrm>
          <a:prstGeom prst="ellipse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292608"/>
            <a:ext cx="603504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ECF3FF"/>
                </a:solidFill>
              </a:rPr>
              <a:t>Reels  |  EN  |  </a:t>
            </a:r>
            <a:r>
              <a:rPr sz="1400" b="1">
                <a:solidFill>
                  <a:srgbClr val="ECF3FF"/>
                </a:solidFill>
              </a:rPr>
              <a:t>Google </a:t>
            </a:r>
            <a:r>
              <a:rPr sz="1400">
                <a:solidFill>
                  <a:srgbClr val="ECF3FF"/>
                </a:solidFill>
              </a:rPr>
              <a:t>4.9 (Google Reviews)</a:t>
            </a:r>
          </a:p>
        </p:txBody>
      </p:sp>
      <p:sp>
        <p:nvSpPr>
          <p:cNvPr id="5" name="5-Point Star 4"/>
          <p:cNvSpPr/>
          <p:nvPr/>
        </p:nvSpPr>
        <p:spPr>
          <a:xfrm>
            <a:off x="3218688" y="265176"/>
            <a:ext cx="164592" cy="164592"/>
          </a:xfrm>
          <a:prstGeom prst="star5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5-Point Star 5"/>
          <p:cNvSpPr/>
          <p:nvPr/>
        </p:nvSpPr>
        <p:spPr>
          <a:xfrm>
            <a:off x="3429000" y="265176"/>
            <a:ext cx="164592" cy="164592"/>
          </a:xfrm>
          <a:prstGeom prst="star5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5-Point Star 6"/>
          <p:cNvSpPr/>
          <p:nvPr/>
        </p:nvSpPr>
        <p:spPr>
          <a:xfrm>
            <a:off x="3639312" y="265176"/>
            <a:ext cx="164592" cy="164592"/>
          </a:xfrm>
          <a:prstGeom prst="star5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5-Point Star 7"/>
          <p:cNvSpPr/>
          <p:nvPr/>
        </p:nvSpPr>
        <p:spPr>
          <a:xfrm>
            <a:off x="3849624" y="265176"/>
            <a:ext cx="164592" cy="164592"/>
          </a:xfrm>
          <a:prstGeom prst="star5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5-Point Star 8"/>
          <p:cNvSpPr/>
          <p:nvPr/>
        </p:nvSpPr>
        <p:spPr>
          <a:xfrm>
            <a:off x="4059935" y="265176"/>
            <a:ext cx="164592" cy="164592"/>
          </a:xfrm>
          <a:prstGeom prst="star5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11480" y="1005840"/>
            <a:ext cx="6035040" cy="1645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4400">
                <a:solidFill>
                  <a:srgbClr val="FFFFFF"/>
                </a:solidFill>
              </a:rPr>
              <a:t>Optimize your</a:t>
            </a:r>
          </a:p>
          <a:p>
            <a:r>
              <a:rPr b="1" i="1" sz="4200">
                <a:solidFill>
                  <a:srgbClr val="34D399"/>
                </a:solidFill>
              </a:rPr>
              <a:t>medication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05840" y="2743200"/>
            <a:ext cx="4846320" cy="7223760"/>
          </a:xfrm>
          <a:prstGeom prst="roundRect">
            <a:avLst/>
          </a:prstGeom>
          <a:solidFill>
            <a:srgbClr val="101828"/>
          </a:solidFill>
          <a:ln w="3175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1234440" y="3017520"/>
            <a:ext cx="4389120" cy="6583680"/>
          </a:xfrm>
          <a:prstGeom prst="round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508760" y="3291840"/>
            <a:ext cx="3840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700">
                <a:solidFill>
                  <a:srgbClr val="10B981"/>
                </a:solidFill>
              </a:rPr>
              <a:t>MediControl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508760" y="3840480"/>
            <a:ext cx="3840480" cy="1325880"/>
          </a:xfrm>
          <a:prstGeom prst="round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>
                <a:solidFill>
                  <a:srgbClr val="1E293B"/>
                </a:solidFill>
              </a:rPr>
              <a:t>Your adherence potential</a:t>
            </a:r>
          </a:p>
          <a:p>
            <a:r>
              <a:rPr b="1" sz="3400">
                <a:solidFill>
                  <a:srgbClr val="0F172A"/>
                </a:solidFill>
              </a:rPr>
              <a:t>100%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508760" y="5486400"/>
            <a:ext cx="3840480" cy="786384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0F172A"/>
                </a:solidFill>
              </a:rPr>
              <a:t>Trusted by 50+ clients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508760" y="6400800"/>
            <a:ext cx="3840480" cy="786384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0F172A"/>
                </a:solidFill>
              </a:rPr>
              <a:t>Priority support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508760" y="7315200"/>
            <a:ext cx="3840480" cy="786384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0F172A"/>
                </a:solidFill>
              </a:rPr>
              <a:t>99.9% uptime · from CHF 4.99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11480" y="9966960"/>
            <a:ext cx="6035040" cy="50292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E2E8F0"/>
                </a:solidFill>
              </a:rPr>
              <a:t>50+ clientes  |  Soporte prioritario  |  99.9% estabilidad  |  Desde CHF 4.99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28600" y="10561320"/>
            <a:ext cx="6400800" cy="914400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502920" y="10744200"/>
            <a:ext cx="5852160" cy="566928"/>
          </a:xfrm>
          <a:prstGeom prst="roundRect">
            <a:avLst/>
          </a:prstGeom>
          <a:solidFill>
            <a:srgbClr val="007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2200">
                <a:solidFill>
                  <a:srgbClr val="FFFFFF"/>
                </a:solidFill>
                <a:hlinkClick r:id="rId2"/>
              </a:rPr>
              <a:t>Register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